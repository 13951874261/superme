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953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20040" y="832104"/>
            <a:ext cx="11548872" cy="0"/>
          </a:xfrm>
          <a:prstGeom prst="line">
            <a:avLst/>
          </a:prstGeom>
          <a:ln w="12700">
            <a:solidFill>
              <a:srgbClr val="007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603504" y="201168"/>
            <a:ext cx="493776" cy="493776"/>
          </a:xfrm>
          <a:prstGeom prst="ellipse">
            <a:avLst/>
          </a:prstGeom>
          <a:solidFill>
            <a:srgbClr val="DEF2EE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310896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7669"/>
                </a:solidFill>
                <a:latin typeface="Microsoft YaHei"/>
              </a:rPr>
              <a:t>电网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6304"/>
            <a:ext cx="4754880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005F55"/>
                </a:solidFill>
                <a:latin typeface="Microsoft YaHei"/>
              </a:rPr>
              <a:t>2030电网资产全寿命周期管理智慧蓝图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539496"/>
            <a:ext cx="512064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00" b="0">
                <a:solidFill>
                  <a:srgbClr val="59696F"/>
                </a:solidFill>
                <a:latin typeface="Microsoft YaHei"/>
              </a:rPr>
              <a:t>AI原生 · 全网一张图 · 三流高度合一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28600"/>
            <a:ext cx="1078992" cy="384048"/>
          </a:xfrm>
          <a:prstGeom prst="rect">
            <a:avLst/>
          </a:prstGeom>
          <a:solidFill>
            <a:srgbClr val="DEF2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83464"/>
            <a:ext cx="1078992" cy="2103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07669"/>
                </a:solidFill>
                <a:latin typeface="Microsoft YaHei"/>
              </a:rPr>
              <a:t>目标思路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63456" y="228600"/>
            <a:ext cx="1078992" cy="384048"/>
          </a:xfrm>
          <a:prstGeom prst="rect">
            <a:avLst/>
          </a:prstGeom>
          <a:solidFill>
            <a:srgbClr val="007669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3456" y="283464"/>
            <a:ext cx="1078992" cy="2103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工作要求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97312" y="228600"/>
            <a:ext cx="1078992" cy="384048"/>
          </a:xfrm>
          <a:prstGeom prst="rect">
            <a:avLst/>
          </a:prstGeom>
          <a:solidFill>
            <a:srgbClr val="DEF2EE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97312" y="283464"/>
            <a:ext cx="1078992" cy="21031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007669"/>
                </a:solidFill>
                <a:latin typeface="Microsoft YaHei"/>
              </a:rPr>
              <a:t>工作安排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987552"/>
            <a:ext cx="10442448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5C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060704"/>
            <a:ext cx="9966960" cy="2194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05F55"/>
                </a:solidFill>
                <a:latin typeface="Microsoft YaHei"/>
              </a:rPr>
              <a:t>面向2030年，全面建成以AI原生和“全网一张图”为底座的资产全寿命周期管理体系，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1353312"/>
            <a:ext cx="9966960" cy="2194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0">
                <a:solidFill>
                  <a:srgbClr val="59696F"/>
                </a:solidFill>
                <a:latin typeface="Microsoft YaHei"/>
              </a:rPr>
              <a:t>推动物理电网、数字系统、智能模型、业务流程与控制策略同步设计、深度耦合。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901952"/>
            <a:ext cx="2926080" cy="2194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004E87"/>
                </a:solidFill>
                <a:latin typeface="Microsoft YaHei"/>
              </a:rPr>
              <a:t>总体建设路径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2011680"/>
            <a:ext cx="8275320" cy="0"/>
          </a:xfrm>
          <a:prstGeom prst="line">
            <a:avLst/>
          </a:prstGeom>
          <a:ln w="12700">
            <a:solidFill>
              <a:srgbClr val="0069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76072" y="2176272"/>
            <a:ext cx="932688" cy="3364992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359152"/>
            <a:ext cx="93268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004E87"/>
                </a:solidFill>
                <a:latin typeface="Microsoft YaHei"/>
              </a:rPr>
              <a:t>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2697480"/>
            <a:ext cx="932688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7669"/>
                </a:solidFill>
                <a:latin typeface="Microsoft YaHei"/>
              </a:rPr>
              <a:t>底座成型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3232" y="3182112"/>
            <a:ext cx="658368" cy="0"/>
          </a:xfrm>
          <a:prstGeom prst="line">
            <a:avLst/>
          </a:prstGeom>
          <a:ln w="10160">
            <a:solidFill>
              <a:srgbClr val="DDE5E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6072" y="3383280"/>
            <a:ext cx="932688" cy="31089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004E87"/>
                </a:solidFill>
                <a:latin typeface="Microsoft YaHei"/>
              </a:rPr>
              <a:t>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3730752"/>
            <a:ext cx="932688" cy="23774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7669"/>
                </a:solidFill>
                <a:latin typeface="Microsoft YaHei"/>
              </a:rPr>
              <a:t>全面自治</a:t>
            </a:r>
          </a:p>
        </p:txBody>
      </p:sp>
      <p:sp>
        <p:nvSpPr>
          <p:cNvPr id="25" name="Chevron 24"/>
          <p:cNvSpPr/>
          <p:nvPr/>
        </p:nvSpPr>
        <p:spPr>
          <a:xfrm>
            <a:off x="1627632" y="2176272"/>
            <a:ext cx="2240280" cy="393192"/>
          </a:xfrm>
          <a:prstGeom prst="chevron">
            <a:avLst/>
          </a:prstGeom>
          <a:solidFill>
            <a:srgbClr val="007669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2249424"/>
            <a:ext cx="19659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统一底座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27632" y="2660904"/>
            <a:ext cx="2240280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2807208"/>
            <a:ext cx="2020824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07669"/>
                </a:solidFill>
                <a:latin typeface="Microsoft YaHei"/>
              </a:rPr>
              <a:t>实物ID / 资源编码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92224" y="3273552"/>
            <a:ext cx="1911096" cy="0"/>
          </a:xfrm>
          <a:prstGeom prst="line">
            <a:avLst/>
          </a:prstGeom>
          <a:ln w="10160">
            <a:solidFill>
              <a:srgbClr val="007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792224" y="3511296"/>
            <a:ext cx="91440" cy="91440"/>
          </a:xfrm>
          <a:prstGeom prst="ellipse">
            <a:avLst/>
          </a:prstGeom>
          <a:solidFill>
            <a:srgbClr val="007669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75104" y="3474720"/>
            <a:ext cx="174650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全域统一</a:t>
            </a:r>
          </a:p>
        </p:txBody>
      </p:sp>
      <p:sp>
        <p:nvSpPr>
          <p:cNvPr id="32" name="Oval 31"/>
          <p:cNvSpPr/>
          <p:nvPr/>
        </p:nvSpPr>
        <p:spPr>
          <a:xfrm>
            <a:off x="1792224" y="3867911"/>
            <a:ext cx="91440" cy="91440"/>
          </a:xfrm>
          <a:prstGeom prst="ellipse">
            <a:avLst/>
          </a:prstGeom>
          <a:solidFill>
            <a:srgbClr val="007669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75104" y="3831335"/>
            <a:ext cx="174650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同源更新</a:t>
            </a:r>
          </a:p>
        </p:txBody>
      </p:sp>
      <p:sp>
        <p:nvSpPr>
          <p:cNvPr id="34" name="Oval 33"/>
          <p:cNvSpPr/>
          <p:nvPr/>
        </p:nvSpPr>
        <p:spPr>
          <a:xfrm>
            <a:off x="1792224" y="4224528"/>
            <a:ext cx="91440" cy="91440"/>
          </a:xfrm>
          <a:prstGeom prst="ellipse">
            <a:avLst/>
          </a:prstGeom>
          <a:solidFill>
            <a:srgbClr val="007669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75104" y="4187952"/>
            <a:ext cx="174650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跨单位共享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5358383"/>
            <a:ext cx="2020824" cy="2194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07669"/>
                </a:solidFill>
                <a:latin typeface="Microsoft YaHei"/>
              </a:rPr>
              <a:t>关键能力模块</a:t>
            </a:r>
          </a:p>
        </p:txBody>
      </p:sp>
      <p:sp>
        <p:nvSpPr>
          <p:cNvPr id="37" name="Chevron 36"/>
          <p:cNvSpPr/>
          <p:nvPr/>
        </p:nvSpPr>
        <p:spPr>
          <a:xfrm>
            <a:off x="3941063" y="2176272"/>
            <a:ext cx="2240280" cy="393192"/>
          </a:xfrm>
          <a:prstGeom prst="chevron">
            <a:avLst/>
          </a:prstGeom>
          <a:solidFill>
            <a:srgbClr val="0069AB"/>
          </a:solidFill>
          <a:ln w="889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50791" y="2249424"/>
            <a:ext cx="19659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数字孪生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41063" y="2660904"/>
            <a:ext cx="2240280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50791" y="2807208"/>
            <a:ext cx="2020824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069AB"/>
                </a:solidFill>
                <a:latin typeface="Microsoft YaHei"/>
              </a:rPr>
              <a:t>设备级 · 厂站级 · 系统级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105655" y="3273552"/>
            <a:ext cx="1911097" cy="0"/>
          </a:xfrm>
          <a:prstGeom prst="line">
            <a:avLst/>
          </a:prstGeom>
          <a:ln w="10160">
            <a:solidFill>
              <a:srgbClr val="0069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105655" y="3511296"/>
            <a:ext cx="91440" cy="91440"/>
          </a:xfrm>
          <a:prstGeom prst="ellipse">
            <a:avLst/>
          </a:prstGeom>
          <a:solidFill>
            <a:srgbClr val="0069AB"/>
          </a:solidFill>
          <a:ln w="889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88536" y="3474720"/>
            <a:ext cx="174650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同步设计</a:t>
            </a:r>
          </a:p>
        </p:txBody>
      </p:sp>
      <p:sp>
        <p:nvSpPr>
          <p:cNvPr id="44" name="Oval 43"/>
          <p:cNvSpPr/>
          <p:nvPr/>
        </p:nvSpPr>
        <p:spPr>
          <a:xfrm>
            <a:off x="4105655" y="3867911"/>
            <a:ext cx="91440" cy="91440"/>
          </a:xfrm>
          <a:prstGeom prst="ellipse">
            <a:avLst/>
          </a:prstGeom>
          <a:solidFill>
            <a:srgbClr val="0069AB"/>
          </a:solidFill>
          <a:ln w="889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88536" y="3831335"/>
            <a:ext cx="174650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状态映射</a:t>
            </a:r>
          </a:p>
        </p:txBody>
      </p:sp>
      <p:sp>
        <p:nvSpPr>
          <p:cNvPr id="46" name="Oval 45"/>
          <p:cNvSpPr/>
          <p:nvPr/>
        </p:nvSpPr>
        <p:spPr>
          <a:xfrm>
            <a:off x="4105655" y="4224528"/>
            <a:ext cx="91440" cy="91440"/>
          </a:xfrm>
          <a:prstGeom prst="ellipse">
            <a:avLst/>
          </a:prstGeom>
          <a:solidFill>
            <a:srgbClr val="0069AB"/>
          </a:solidFill>
          <a:ln w="889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88536" y="4187952"/>
            <a:ext cx="174650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全景可视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50791" y="5358383"/>
            <a:ext cx="2020824" cy="2194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069AB"/>
                </a:solidFill>
                <a:latin typeface="Microsoft YaHei"/>
              </a:rPr>
              <a:t>关键能力模块</a:t>
            </a:r>
          </a:p>
        </p:txBody>
      </p:sp>
      <p:sp>
        <p:nvSpPr>
          <p:cNvPr id="49" name="Chevron 48"/>
          <p:cNvSpPr/>
          <p:nvPr/>
        </p:nvSpPr>
        <p:spPr>
          <a:xfrm>
            <a:off x="6254496" y="2176272"/>
            <a:ext cx="2240280" cy="393192"/>
          </a:xfrm>
          <a:prstGeom prst="chevron">
            <a:avLst/>
          </a:prstGeom>
          <a:solidFill>
            <a:srgbClr val="00938F"/>
          </a:solidFill>
          <a:ln w="8890">
            <a:solidFill>
              <a:srgbClr val="009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4" y="2249424"/>
            <a:ext cx="1965960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智能自治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54496" y="2660904"/>
            <a:ext cx="2240280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009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4224" y="2807208"/>
            <a:ext cx="2020824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0938F"/>
                </a:solidFill>
                <a:latin typeface="Microsoft YaHei"/>
              </a:rPr>
              <a:t>超级智能体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419088" y="3273552"/>
            <a:ext cx="1911095" cy="0"/>
          </a:xfrm>
          <a:prstGeom prst="line">
            <a:avLst/>
          </a:prstGeom>
          <a:ln w="10160">
            <a:solidFill>
              <a:srgbClr val="009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419088" y="3511296"/>
            <a:ext cx="91440" cy="91440"/>
          </a:xfrm>
          <a:prstGeom prst="ellipse">
            <a:avLst/>
          </a:prstGeom>
          <a:solidFill>
            <a:srgbClr val="00938F"/>
          </a:solidFill>
          <a:ln w="8890">
            <a:solidFill>
              <a:srgbClr val="009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1968" y="3474720"/>
            <a:ext cx="174650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自感知</a:t>
            </a:r>
          </a:p>
        </p:txBody>
      </p:sp>
      <p:sp>
        <p:nvSpPr>
          <p:cNvPr id="56" name="Oval 55"/>
          <p:cNvSpPr/>
          <p:nvPr/>
        </p:nvSpPr>
        <p:spPr>
          <a:xfrm>
            <a:off x="6419088" y="3867911"/>
            <a:ext cx="91440" cy="91440"/>
          </a:xfrm>
          <a:prstGeom prst="ellipse">
            <a:avLst/>
          </a:prstGeom>
          <a:solidFill>
            <a:srgbClr val="00938F"/>
          </a:solidFill>
          <a:ln w="8890">
            <a:solidFill>
              <a:srgbClr val="009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01968" y="3831335"/>
            <a:ext cx="174650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业财自协同</a:t>
            </a:r>
          </a:p>
        </p:txBody>
      </p:sp>
      <p:sp>
        <p:nvSpPr>
          <p:cNvPr id="58" name="Oval 57"/>
          <p:cNvSpPr/>
          <p:nvPr/>
        </p:nvSpPr>
        <p:spPr>
          <a:xfrm>
            <a:off x="6419088" y="4224528"/>
            <a:ext cx="91440" cy="91440"/>
          </a:xfrm>
          <a:prstGeom prst="ellipse">
            <a:avLst/>
          </a:prstGeom>
          <a:solidFill>
            <a:srgbClr val="00938F"/>
          </a:solidFill>
          <a:ln w="8890">
            <a:solidFill>
              <a:srgbClr val="009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01968" y="4187952"/>
            <a:ext cx="174650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决策自优化</a:t>
            </a:r>
          </a:p>
        </p:txBody>
      </p:sp>
      <p:sp>
        <p:nvSpPr>
          <p:cNvPr id="60" name="Oval 59"/>
          <p:cNvSpPr/>
          <p:nvPr/>
        </p:nvSpPr>
        <p:spPr>
          <a:xfrm>
            <a:off x="6419088" y="4581144"/>
            <a:ext cx="91440" cy="91440"/>
          </a:xfrm>
          <a:prstGeom prst="ellipse">
            <a:avLst/>
          </a:prstGeom>
          <a:solidFill>
            <a:srgbClr val="00938F"/>
          </a:solidFill>
          <a:ln w="8890">
            <a:solidFill>
              <a:srgbClr val="009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01968" y="4544568"/>
            <a:ext cx="1746504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知识自演进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64224" y="5358383"/>
            <a:ext cx="2020824" cy="2194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00938F"/>
                </a:solidFill>
                <a:latin typeface="Microsoft YaHei"/>
              </a:rPr>
              <a:t>关键能力模块</a:t>
            </a:r>
          </a:p>
        </p:txBody>
      </p:sp>
      <p:sp>
        <p:nvSpPr>
          <p:cNvPr id="63" name="Chevron 62"/>
          <p:cNvSpPr/>
          <p:nvPr/>
        </p:nvSpPr>
        <p:spPr>
          <a:xfrm>
            <a:off x="8567928" y="2176272"/>
            <a:ext cx="2441448" cy="393192"/>
          </a:xfrm>
          <a:prstGeom prst="chevron">
            <a:avLst/>
          </a:prstGeom>
          <a:solidFill>
            <a:srgbClr val="E07516"/>
          </a:solidFill>
          <a:ln w="8890">
            <a:solidFill>
              <a:srgbClr val="E07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77655" y="2249424"/>
            <a:ext cx="2167128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三流闭环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67928" y="2660904"/>
            <a:ext cx="2441448" cy="2560320"/>
          </a:xfrm>
          <a:prstGeom prst="rect">
            <a:avLst/>
          </a:prstGeom>
          <a:solidFill>
            <a:srgbClr val="FFFFFF"/>
          </a:solidFill>
          <a:ln w="8890">
            <a:solidFill>
              <a:srgbClr val="E07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77655" y="2807208"/>
            <a:ext cx="2221991" cy="38404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E07516"/>
                </a:solidFill>
                <a:latin typeface="Microsoft YaHei"/>
              </a:rPr>
              <a:t>实物流 · 价值流 · 信息流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732519" y="3273552"/>
            <a:ext cx="2112265" cy="0"/>
          </a:xfrm>
          <a:prstGeom prst="line">
            <a:avLst/>
          </a:prstGeom>
          <a:ln w="10160">
            <a:solidFill>
              <a:srgbClr val="E075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8732519" y="3511296"/>
            <a:ext cx="91440" cy="91440"/>
          </a:xfrm>
          <a:prstGeom prst="ellipse">
            <a:avLst/>
          </a:prstGeom>
          <a:solidFill>
            <a:srgbClr val="E07516"/>
          </a:solidFill>
          <a:ln w="8890">
            <a:solidFill>
              <a:srgbClr val="E07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15400" y="3474720"/>
            <a:ext cx="1947672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穿透式管理</a:t>
            </a:r>
          </a:p>
        </p:txBody>
      </p:sp>
      <p:sp>
        <p:nvSpPr>
          <p:cNvPr id="70" name="Oval 69"/>
          <p:cNvSpPr/>
          <p:nvPr/>
        </p:nvSpPr>
        <p:spPr>
          <a:xfrm>
            <a:off x="8732519" y="3867911"/>
            <a:ext cx="91440" cy="91440"/>
          </a:xfrm>
          <a:prstGeom prst="ellipse">
            <a:avLst/>
          </a:prstGeom>
          <a:solidFill>
            <a:srgbClr val="E07516"/>
          </a:solidFill>
          <a:ln w="8890">
            <a:solidFill>
              <a:srgbClr val="E07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15400" y="3831335"/>
            <a:ext cx="1947672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闭环决策</a:t>
            </a:r>
          </a:p>
        </p:txBody>
      </p:sp>
      <p:sp>
        <p:nvSpPr>
          <p:cNvPr id="72" name="Oval 71"/>
          <p:cNvSpPr/>
          <p:nvPr/>
        </p:nvSpPr>
        <p:spPr>
          <a:xfrm>
            <a:off x="8732519" y="4224528"/>
            <a:ext cx="91440" cy="91440"/>
          </a:xfrm>
          <a:prstGeom prst="ellipse">
            <a:avLst/>
          </a:prstGeom>
          <a:solidFill>
            <a:srgbClr val="E07516"/>
          </a:solidFill>
          <a:ln w="8890">
            <a:solidFill>
              <a:srgbClr val="E07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15400" y="4187952"/>
            <a:ext cx="1947672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950" b="0">
                <a:solidFill>
                  <a:srgbClr val="59696F"/>
                </a:solidFill>
                <a:latin typeface="Microsoft YaHei"/>
              </a:rPr>
              <a:t>综合最优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77655" y="5358383"/>
            <a:ext cx="2221991" cy="219456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800" b="1">
                <a:solidFill>
                  <a:srgbClr val="E07516"/>
                </a:solidFill>
                <a:latin typeface="Microsoft YaHei"/>
              </a:rPr>
              <a:t>关键能力模块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137392" y="2176272"/>
            <a:ext cx="566928" cy="3364992"/>
          </a:xfrm>
          <a:prstGeom prst="rect">
            <a:avLst/>
          </a:prstGeom>
          <a:solidFill>
            <a:srgbClr val="FFFFFF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137392" y="2267712"/>
            <a:ext cx="566928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5F55"/>
                </a:solidFill>
                <a:latin typeface="Microsoft YaHei"/>
              </a:rPr>
              <a:t>重点
任务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1228832" y="2971800"/>
            <a:ext cx="384048" cy="310896"/>
          </a:xfrm>
          <a:prstGeom prst="roundRect">
            <a:avLst/>
          </a:prstGeom>
          <a:solidFill>
            <a:srgbClr val="DEF2EE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228832" y="3017520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7669"/>
                </a:solidFill>
                <a:latin typeface="Microsoft YaHei"/>
              </a:rPr>
              <a:t>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228832" y="3511296"/>
            <a:ext cx="384048" cy="310896"/>
          </a:xfrm>
          <a:prstGeom prst="roundRect">
            <a:avLst/>
          </a:prstGeom>
          <a:solidFill>
            <a:srgbClr val="DEF2EE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228832" y="3557015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7669"/>
                </a:solidFill>
                <a:latin typeface="Microsoft YaHei"/>
              </a:rPr>
              <a:t>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1228832" y="4050791"/>
            <a:ext cx="384048" cy="310896"/>
          </a:xfrm>
          <a:prstGeom prst="roundRect">
            <a:avLst/>
          </a:prstGeom>
          <a:solidFill>
            <a:srgbClr val="DEF2EE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228832" y="4096511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7669"/>
                </a:solidFill>
                <a:latin typeface="Microsoft YaHei"/>
              </a:rPr>
              <a:t>3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228832" y="4590288"/>
            <a:ext cx="384048" cy="310896"/>
          </a:xfrm>
          <a:prstGeom prst="roundRect">
            <a:avLst/>
          </a:prstGeom>
          <a:solidFill>
            <a:srgbClr val="DEF2EE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28832" y="4636007"/>
            <a:ext cx="384048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7669"/>
                </a:solidFill>
                <a:latin typeface="Microsoft YaHei"/>
              </a:rPr>
              <a:t>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76072" y="5742432"/>
            <a:ext cx="11128248" cy="557784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8952" y="5870448"/>
            <a:ext cx="1170432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E07516"/>
                </a:solidFill>
                <a:latin typeface="Microsoft YaHei"/>
              </a:rPr>
              <a:t>三重底线评价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011680" y="5833872"/>
            <a:ext cx="1536192" cy="292608"/>
          </a:xfrm>
          <a:prstGeom prst="roundRect">
            <a:avLst/>
          </a:prstGeom>
          <a:solidFill>
            <a:srgbClr val="E5F2FA"/>
          </a:solidFill>
          <a:ln w="889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11680" y="5879592"/>
            <a:ext cx="1536192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4E87"/>
                </a:solidFill>
                <a:latin typeface="Microsoft YaHei"/>
              </a:rPr>
              <a:t>技术底线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785615" y="5833872"/>
            <a:ext cx="1536192" cy="292608"/>
          </a:xfrm>
          <a:prstGeom prst="roundRect">
            <a:avLst/>
          </a:prstGeom>
          <a:solidFill>
            <a:srgbClr val="E5F2FA"/>
          </a:solidFill>
          <a:ln w="889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85615" y="5879592"/>
            <a:ext cx="1536192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4E87"/>
                </a:solidFill>
                <a:latin typeface="Microsoft YaHei"/>
              </a:rPr>
              <a:t>经济底线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559552" y="5833872"/>
            <a:ext cx="1536192" cy="292608"/>
          </a:xfrm>
          <a:prstGeom prst="roundRect">
            <a:avLst/>
          </a:prstGeom>
          <a:solidFill>
            <a:srgbClr val="E5F2FA"/>
          </a:solidFill>
          <a:ln w="8890">
            <a:solidFill>
              <a:srgbClr val="006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59552" y="5879592"/>
            <a:ext cx="1536192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4E87"/>
                </a:solidFill>
                <a:latin typeface="Microsoft YaHei"/>
              </a:rPr>
              <a:t>环境底线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406640" y="5833872"/>
            <a:ext cx="2377440" cy="292608"/>
          </a:xfrm>
          <a:prstGeom prst="roundRect">
            <a:avLst/>
          </a:prstGeom>
          <a:solidFill>
            <a:srgbClr val="DEF2EE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06640" y="5879592"/>
            <a:ext cx="237744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005F55"/>
                </a:solidFill>
                <a:latin typeface="Microsoft YaHei"/>
              </a:rPr>
              <a:t>企业级多模态电力大模型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012680" y="5833872"/>
            <a:ext cx="1426464" cy="292608"/>
          </a:xfrm>
          <a:prstGeom prst="roundRect">
            <a:avLst/>
          </a:prstGeom>
          <a:solidFill>
            <a:srgbClr val="007669"/>
          </a:solidFill>
          <a:ln w="8890">
            <a:solidFill>
              <a:srgbClr val="007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12680" y="5879592"/>
            <a:ext cx="1426464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综合最优解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1792" y="6446520"/>
            <a:ext cx="713232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850" b="1">
                <a:solidFill>
                  <a:srgbClr val="005F55"/>
                </a:solidFill>
                <a:latin typeface="Microsoft YaHei"/>
              </a:rPr>
              <a:t>结果：资产底盘绝对清晰，业务从查询审批升级为穿透式闭环自治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509760" y="6446520"/>
            <a:ext cx="2194560" cy="18288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r"/>
            <a:r>
              <a:rPr sz="700" b="1">
                <a:solidFill>
                  <a:srgbClr val="59696F"/>
                </a:solidFill>
                <a:latin typeface="Microsoft YaHei"/>
              </a:rPr>
              <a:t>ASSET LIFECYCLE 2030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