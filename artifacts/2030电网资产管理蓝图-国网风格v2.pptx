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84048" y="640080"/>
            <a:ext cx="11411712" cy="0"/>
          </a:xfrm>
          <a:prstGeom prst="line">
            <a:avLst/>
          </a:prstGeom>
          <a:ln w="13970">
            <a:solidFill>
              <a:srgbClr val="007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02920" y="128016"/>
            <a:ext cx="384048" cy="384048"/>
          </a:xfrm>
          <a:prstGeom prst="ellipse">
            <a:avLst/>
          </a:prstGeom>
          <a:solidFill>
            <a:srgbClr val="E0F3EF"/>
          </a:solidFill>
          <a:ln w="1270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384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50" b="1">
                <a:solidFill>
                  <a:srgbClr val="00564E"/>
                </a:solidFill>
                <a:latin typeface="Microsoft YaHei"/>
              </a:rPr>
              <a:t>电网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91440"/>
            <a:ext cx="98755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2100" b="1">
                <a:solidFill>
                  <a:srgbClr val="00564E"/>
                </a:solidFill>
                <a:latin typeface="Microsoft YaHei"/>
              </a:rPr>
              <a:t>2030电网资产管理智慧蓝图：AI原生与数字孪生新时代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201168"/>
            <a:ext cx="77724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800" b="1">
                <a:solidFill>
                  <a:srgbClr val="007669"/>
                </a:solidFill>
                <a:latin typeface="Microsoft YaHei"/>
              </a:rPr>
              <a:t>战略展望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841248"/>
            <a:ext cx="3822191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932688"/>
            <a:ext cx="340156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564E"/>
                </a:solidFill>
                <a:latin typeface="Microsoft YaHei"/>
              </a:rPr>
              <a:t>超级智能体自治阶段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298448"/>
            <a:ext cx="3364992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19" b="0">
                <a:solidFill>
                  <a:srgbClr val="4F6065"/>
                </a:solidFill>
                <a:latin typeface="Microsoft YaHei"/>
              </a:rPr>
              <a:t>实现自感知、业财自协同、决策自优化与知识自演进，推动资产管理由被动审批迈向自主规划。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841248"/>
            <a:ext cx="3840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01583" y="969264"/>
            <a:ext cx="1627632" cy="402336"/>
          </a:xfrm>
          <a:prstGeom prst="roundRect">
            <a:avLst/>
          </a:prstGeom>
          <a:solidFill>
            <a:srgbClr val="E4F2F9"/>
          </a:solidFill>
          <a:ln w="1016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3" y="987552"/>
            <a:ext cx="1627632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487D"/>
                </a:solidFill>
                <a:latin typeface="Microsoft YaHei"/>
              </a:rPr>
              <a:t>感知与协同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1161288"/>
            <a:ext cx="1627632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80" b="0">
                <a:solidFill>
                  <a:srgbClr val="4F6065"/>
                </a:solidFill>
                <a:latin typeface="Microsoft YaHei"/>
              </a:rPr>
              <a:t>自感知 · 业财自协同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0656" y="969264"/>
            <a:ext cx="1627632" cy="402336"/>
          </a:xfrm>
          <a:prstGeom prst="roundRect">
            <a:avLst/>
          </a:prstGeom>
          <a:solidFill>
            <a:srgbClr val="E4F2F9"/>
          </a:solidFill>
          <a:ln w="1016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0656" y="987552"/>
            <a:ext cx="1627632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487D"/>
                </a:solidFill>
                <a:latin typeface="Microsoft YaHei"/>
              </a:rPr>
              <a:t>决策与进化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0656" y="1161288"/>
            <a:ext cx="1627632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80" b="0">
                <a:solidFill>
                  <a:srgbClr val="4F6065"/>
                </a:solidFill>
                <a:latin typeface="Microsoft YaHei"/>
              </a:rPr>
              <a:t>决策自优化 · 知识自演进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472184"/>
            <a:ext cx="3346704" cy="338328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1583" y="1499616"/>
            <a:ext cx="3346704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80" b="1">
                <a:solidFill>
                  <a:srgbClr val="00564E"/>
                </a:solidFill>
                <a:latin typeface="Microsoft YaHei"/>
              </a:rPr>
              <a:t>支撑技术：AI大模型自主规划 · 企业级多模态电力大模型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130552"/>
            <a:ext cx="3401568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258568"/>
            <a:ext cx="2944368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00487D"/>
                </a:solidFill>
                <a:latin typeface="Microsoft YaHei"/>
              </a:rPr>
              <a:t>“设备—厂站—系统”
三级数字孪生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2907792"/>
            <a:ext cx="288036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919" b="0">
                <a:solidFill>
                  <a:srgbClr val="4F6065"/>
                </a:solidFill>
                <a:latin typeface="Microsoft YaHei"/>
              </a:rPr>
              <a:t>构建从微观设备到宏观系统的全域数字化映射，打通跨单位、跨专业壁垒，支撑全网资源优化配置。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3675887"/>
            <a:ext cx="82296" cy="82296"/>
          </a:xfrm>
          <a:prstGeom prst="ellipse">
            <a:avLst/>
          </a:prstGeom>
          <a:solidFill>
            <a:srgbClr val="007669"/>
          </a:solidFill>
          <a:ln w="1016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611880"/>
            <a:ext cx="26974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70" b="0">
                <a:solidFill>
                  <a:srgbClr val="00564E"/>
                </a:solidFill>
                <a:latin typeface="Microsoft YaHei"/>
              </a:rPr>
              <a:t>物理电网与数字系统同步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3886200"/>
            <a:ext cx="82296" cy="82296"/>
          </a:xfrm>
          <a:prstGeom prst="ellipse">
            <a:avLst/>
          </a:prstGeom>
          <a:solidFill>
            <a:srgbClr val="007669"/>
          </a:solidFill>
          <a:ln w="1016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822192"/>
            <a:ext cx="26974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70" b="0">
                <a:solidFill>
                  <a:srgbClr val="00564E"/>
                </a:solidFill>
                <a:latin typeface="Microsoft YaHei"/>
              </a:rPr>
              <a:t>业务流程与控制策略耦合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" y="4096511"/>
            <a:ext cx="82296" cy="82296"/>
          </a:xfrm>
          <a:prstGeom prst="ellipse">
            <a:avLst/>
          </a:prstGeom>
          <a:solidFill>
            <a:srgbClr val="007669"/>
          </a:solidFill>
          <a:ln w="1016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032504"/>
            <a:ext cx="269748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770" b="1">
                <a:solidFill>
                  <a:srgbClr val="00564E"/>
                </a:solidFill>
                <a:latin typeface="Microsoft YaHei"/>
              </a:rPr>
              <a:t>状态可视、风险可知、决策可算</a:t>
            </a:r>
          </a:p>
        </p:txBody>
      </p:sp>
      <p:sp>
        <p:nvSpPr>
          <p:cNvPr id="29" name="Oval 28"/>
          <p:cNvSpPr/>
          <p:nvPr/>
        </p:nvSpPr>
        <p:spPr>
          <a:xfrm>
            <a:off x="5504688" y="896112"/>
            <a:ext cx="877824" cy="877824"/>
          </a:xfrm>
          <a:prstGeom prst="ellipse">
            <a:avLst/>
          </a:prstGeom>
          <a:solidFill>
            <a:srgbClr val="E0F3EF"/>
          </a:solidFill>
          <a:ln w="1905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96712" y="1088136"/>
            <a:ext cx="493776" cy="49377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4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96712" y="1216152"/>
            <a:ext cx="493776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564E"/>
                </a:solidFill>
                <a:latin typeface="Microsoft YaHei"/>
              </a:rPr>
              <a:t>AI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0" y="1764792"/>
            <a:ext cx="0" cy="173736"/>
          </a:xfrm>
          <a:prstGeom prst="line">
            <a:avLst/>
          </a:prstGeom>
          <a:ln w="15240">
            <a:solidFill>
              <a:srgbClr val="007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rapezoid 32"/>
          <p:cNvSpPr/>
          <p:nvPr/>
        </p:nvSpPr>
        <p:spPr>
          <a:xfrm>
            <a:off x="4800600" y="1938528"/>
            <a:ext cx="2286000" cy="566928"/>
          </a:xfrm>
          <a:prstGeom prst="trapezoid">
            <a:avLst/>
          </a:prstGeom>
          <a:solidFill>
            <a:srgbClr val="249789"/>
          </a:solidFill>
          <a:ln w="12700">
            <a:solidFill>
              <a:srgbClr val="24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1768" y="2039112"/>
            <a:ext cx="18836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系统级数字孪生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2267712"/>
            <a:ext cx="1883664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10" b="0">
                <a:solidFill>
                  <a:srgbClr val="FFFFFF"/>
                </a:solidFill>
                <a:latin typeface="Microsoft YaHei"/>
              </a:rPr>
              <a:t>全网态势 · 系统优化</a:t>
            </a:r>
          </a:p>
        </p:txBody>
      </p:sp>
      <p:sp>
        <p:nvSpPr>
          <p:cNvPr id="36" name="Trapezoid 35"/>
          <p:cNvSpPr/>
          <p:nvPr/>
        </p:nvSpPr>
        <p:spPr>
          <a:xfrm>
            <a:off x="4407408" y="2578608"/>
            <a:ext cx="3072384" cy="685800"/>
          </a:xfrm>
          <a:prstGeom prst="trapezoid">
            <a:avLst/>
          </a:prstGeom>
          <a:solidFill>
            <a:srgbClr val="2CABB7"/>
          </a:solidFill>
          <a:ln w="12700">
            <a:solidFill>
              <a:srgbClr val="2C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08576" y="2679191"/>
            <a:ext cx="2670048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厂站级数字孪生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8576" y="2907791"/>
            <a:ext cx="2670048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10" b="0">
                <a:solidFill>
                  <a:srgbClr val="FFFFFF"/>
                </a:solidFill>
                <a:latin typeface="Microsoft YaHei"/>
              </a:rPr>
              <a:t>站内协同 · 运行推演</a:t>
            </a:r>
          </a:p>
        </p:txBody>
      </p:sp>
      <p:sp>
        <p:nvSpPr>
          <p:cNvPr id="39" name="Trapezoid 38"/>
          <p:cNvSpPr/>
          <p:nvPr/>
        </p:nvSpPr>
        <p:spPr>
          <a:xfrm>
            <a:off x="4005072" y="3346704"/>
            <a:ext cx="3877056" cy="804672"/>
          </a:xfrm>
          <a:prstGeom prst="trapezoid">
            <a:avLst/>
          </a:prstGeom>
          <a:solidFill>
            <a:srgbClr val="0069AB"/>
          </a:solidFill>
          <a:ln w="1270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0" y="3447288"/>
            <a:ext cx="347472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设备级数字孪生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675888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10" b="0">
                <a:solidFill>
                  <a:srgbClr val="FFFFFF"/>
                </a:solidFill>
                <a:latin typeface="Microsoft YaHei"/>
              </a:rPr>
              <a:t>状态感知 · 寿命预测 · 风险诊断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7136" y="4215384"/>
            <a:ext cx="285292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50" b="1">
                <a:solidFill>
                  <a:srgbClr val="00564E"/>
                </a:solidFill>
                <a:latin typeface="Microsoft YaHei"/>
              </a:rPr>
              <a:t>三级孪生贯通 · 全寿命周期联动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74152" y="2130552"/>
            <a:ext cx="3703320" cy="20482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02752" y="2267712"/>
            <a:ext cx="324612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564E"/>
                </a:solidFill>
                <a:latin typeface="Microsoft YaHei"/>
              </a:rPr>
              <a:t>实物“ID”与电网资源编码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2633472"/>
            <a:ext cx="32461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900" b="1">
                <a:solidFill>
                  <a:srgbClr val="00487D"/>
                </a:solidFill>
                <a:latin typeface="Microsoft YaHei"/>
              </a:rPr>
              <a:t>全域统一 · 同源更新 · 一物一码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94192" y="3163824"/>
            <a:ext cx="713232" cy="502920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4192" y="3282696"/>
            <a:ext cx="713232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0564E"/>
                </a:solidFill>
                <a:latin typeface="Microsoft YaHei"/>
              </a:rPr>
              <a:t>实物流</a:t>
            </a:r>
          </a:p>
        </p:txBody>
      </p:sp>
      <p:sp>
        <p:nvSpPr>
          <p:cNvPr id="48" name="Hexagon 47"/>
          <p:cNvSpPr/>
          <p:nvPr/>
        </p:nvSpPr>
        <p:spPr>
          <a:xfrm>
            <a:off x="9582912" y="3054096"/>
            <a:ext cx="713232" cy="713232"/>
          </a:xfrm>
          <a:prstGeom prst="hexagon">
            <a:avLst/>
          </a:prstGeom>
          <a:solidFill>
            <a:srgbClr val="E4F2F9"/>
          </a:solidFill>
          <a:ln w="1016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82912" y="327355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0487D"/>
                </a:solidFill>
                <a:latin typeface="Microsoft YaHei"/>
              </a:rPr>
              <a:t>统一ID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771632" y="3163824"/>
            <a:ext cx="713232" cy="502920"/>
          </a:xfrm>
          <a:prstGeom prst="roundRect">
            <a:avLst/>
          </a:prstGeom>
          <a:solidFill>
            <a:srgbClr val="E0F3EF"/>
          </a:solidFill>
          <a:ln w="1016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71632" y="3282696"/>
            <a:ext cx="713232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00" b="1">
                <a:solidFill>
                  <a:srgbClr val="00564E"/>
                </a:solidFill>
                <a:latin typeface="Microsoft YaHei"/>
              </a:rPr>
              <a:t>价值流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07424" y="3419856"/>
            <a:ext cx="475488" cy="0"/>
          </a:xfrm>
          <a:prstGeom prst="line">
            <a:avLst/>
          </a:prstGeom>
          <a:ln w="19050">
            <a:solidFill>
              <a:srgbClr val="007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0296144" y="3419856"/>
            <a:ext cx="475488" cy="0"/>
          </a:xfrm>
          <a:prstGeom prst="line">
            <a:avLst/>
          </a:prstGeom>
          <a:ln w="19050">
            <a:solidFill>
              <a:srgbClr val="007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582912" y="3867912"/>
            <a:ext cx="713232" cy="256032"/>
          </a:xfrm>
          <a:prstGeom prst="roundRect">
            <a:avLst/>
          </a:prstGeom>
          <a:solidFill>
            <a:srgbClr val="E4F2F9"/>
          </a:solidFill>
          <a:ln w="1016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82912" y="3895344"/>
            <a:ext cx="713232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50" b="1">
                <a:solidFill>
                  <a:srgbClr val="00487D"/>
                </a:solidFill>
                <a:latin typeface="Microsoft YaHei"/>
              </a:rPr>
              <a:t>信息流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4489704"/>
            <a:ext cx="11365992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9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90288" y="4572000"/>
            <a:ext cx="3017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00564E"/>
                </a:solidFill>
                <a:latin typeface="Microsoft YaHei"/>
              </a:rPr>
              <a:t>核心底座与融合生态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58368" y="4910328"/>
            <a:ext cx="10881360" cy="0"/>
          </a:xfrm>
          <a:prstGeom prst="line">
            <a:avLst/>
          </a:prstGeom>
          <a:ln w="10160">
            <a:solidFill>
              <a:srgbClr val="C7DA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58368" y="5074920"/>
            <a:ext cx="3063240" cy="877824"/>
          </a:xfrm>
          <a:prstGeom prst="roundRect">
            <a:avLst/>
          </a:prstGeom>
          <a:solidFill>
            <a:srgbClr val="FAFDFC"/>
          </a:solidFill>
          <a:ln w="10160">
            <a:solidFill>
              <a:srgbClr val="E07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95528" y="5221224"/>
            <a:ext cx="393192" cy="393192"/>
          </a:xfrm>
          <a:prstGeom prst="ellipse">
            <a:avLst/>
          </a:prstGeom>
          <a:solidFill>
            <a:srgbClr val="FCEEDA"/>
          </a:solidFill>
          <a:ln w="10160">
            <a:solidFill>
              <a:srgbClr val="E07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5528" y="5321808"/>
            <a:ext cx="393192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80" b="1">
                <a:solidFill>
                  <a:srgbClr val="E07516"/>
                </a:solidFill>
                <a:latin typeface="Microsoft YaHei"/>
              </a:rPr>
              <a:t>底线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98448" y="5175504"/>
            <a:ext cx="23134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E07516"/>
                </a:solidFill>
                <a:latin typeface="Microsoft YaHei"/>
              </a:rPr>
              <a:t>“技术—经济—环境”三重底线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98448" y="5449824"/>
            <a:ext cx="231343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10" b="0">
                <a:solidFill>
                  <a:srgbClr val="4F6065"/>
                </a:solidFill>
                <a:latin typeface="Microsoft YaHei"/>
              </a:rPr>
              <a:t>统筹安全可靠、投资效益与绿色低碳，追求全寿命周期综合最优。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941063" y="5074920"/>
            <a:ext cx="4160520" cy="877824"/>
          </a:xfrm>
          <a:prstGeom prst="roundRect">
            <a:avLst/>
          </a:prstGeom>
          <a:solidFill>
            <a:srgbClr val="FAFDFC"/>
          </a:solidFill>
          <a:ln w="1016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078224" y="5221224"/>
            <a:ext cx="393192" cy="393192"/>
          </a:xfrm>
          <a:prstGeom prst="ellipse">
            <a:avLst/>
          </a:prstGeom>
          <a:solidFill>
            <a:srgbClr val="E0F3EF"/>
          </a:solidFill>
          <a:ln w="1016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78224" y="5321808"/>
            <a:ext cx="393192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80" b="1">
                <a:solidFill>
                  <a:srgbClr val="007669"/>
                </a:solidFill>
                <a:latin typeface="Microsoft YaHei"/>
              </a:rPr>
              <a:t>AI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81144" y="5175504"/>
            <a:ext cx="341071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07669"/>
                </a:solidFill>
                <a:latin typeface="Microsoft YaHei"/>
              </a:rPr>
              <a:t>AI原生与“全网一张图”底座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81144" y="5449824"/>
            <a:ext cx="34107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10" b="0">
                <a:solidFill>
                  <a:srgbClr val="4F6065"/>
                </a:solidFill>
                <a:latin typeface="Microsoft YaHei"/>
              </a:rPr>
              <a:t>同步设计物理电网、智能模型、业务流程与控制策略，实现实时耦合与深度融合。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21040" y="5074920"/>
            <a:ext cx="3182112" cy="877824"/>
          </a:xfrm>
          <a:prstGeom prst="roundRect">
            <a:avLst/>
          </a:prstGeom>
          <a:solidFill>
            <a:srgbClr val="FAFDFC"/>
          </a:solidFill>
          <a:ln w="1016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458200" y="5221224"/>
            <a:ext cx="393192" cy="393192"/>
          </a:xfrm>
          <a:prstGeom prst="ellipse">
            <a:avLst/>
          </a:prstGeom>
          <a:solidFill>
            <a:srgbClr val="E0F3EF"/>
          </a:solidFill>
          <a:ln w="1016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58200" y="5321808"/>
            <a:ext cx="393192" cy="1463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680" b="1">
                <a:solidFill>
                  <a:srgbClr val="0069AB"/>
                </a:solidFill>
                <a:latin typeface="Microsoft YaHei"/>
              </a:rPr>
              <a:t>三流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19" y="5175504"/>
            <a:ext cx="243230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069AB"/>
                </a:solidFill>
                <a:latin typeface="Microsoft YaHei"/>
              </a:rPr>
              <a:t>三流高度合一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19" y="5449824"/>
            <a:ext cx="243230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10" b="0">
                <a:solidFill>
                  <a:srgbClr val="4F6065"/>
                </a:solidFill>
                <a:latin typeface="Microsoft YaHei"/>
              </a:rPr>
              <a:t>实物流、价值流、信息流贯通，形成穿透式闭环资产管理生态。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17320" y="6345936"/>
            <a:ext cx="9354312" cy="310896"/>
          </a:xfrm>
          <a:prstGeom prst="roundRect">
            <a:avLst/>
          </a:prstGeom>
          <a:solidFill>
            <a:srgbClr val="007669"/>
          </a:solidFill>
          <a:ln w="1016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17320" y="6391656"/>
            <a:ext cx="9354312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最终实现：电网资产底盘绝对清晰 · 全寿命周期综合最优 · 超级智能体自主进化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