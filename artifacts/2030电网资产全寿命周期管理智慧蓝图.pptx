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04320" y="502920"/>
            <a:ext cx="0" cy="585216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" y="64008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" y="160020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" y="256032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" y="352044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" y="448056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1480" y="544068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" y="6263640"/>
            <a:ext cx="11384280" cy="0"/>
          </a:xfrm>
          <a:prstGeom prst="line">
            <a:avLst/>
          </a:prstGeom>
          <a:ln w="4445">
            <a:solidFill>
              <a:srgbClr val="1F44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384048"/>
            <a:ext cx="109728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8BE5CF"/>
                </a:solidFill>
                <a:latin typeface="Microsoft YaHei"/>
              </a:rPr>
              <a:t>资产管理战略蓝图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94944"/>
            <a:ext cx="804672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9FC"/>
                </a:solidFill>
                <a:latin typeface="Microsoft YaHei"/>
              </a:rPr>
              <a:t>2030  电网资产全寿命周期管理智慧蓝图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261872"/>
            <a:ext cx="667512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A4BECF"/>
                </a:solidFill>
                <a:latin typeface="Microsoft YaHei"/>
              </a:rPr>
              <a:t>AI原生 × 全网一张图 · 从数据可见到资产自治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7000" y="530352"/>
            <a:ext cx="1234440" cy="658368"/>
          </a:xfrm>
          <a:prstGeom prst="roundRect">
            <a:avLst/>
          </a:prstGeom>
          <a:solidFill>
            <a:srgbClr val="F89D3F"/>
          </a:solidFill>
          <a:ln w="10160">
            <a:solidFill>
              <a:srgbClr val="F89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566928"/>
            <a:ext cx="12344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81831"/>
                </a:solidFill>
                <a:latin typeface="Microsoft YaHei"/>
              </a:rPr>
              <a:t>目标年份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804672"/>
            <a:ext cx="123444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081831"/>
                </a:solidFill>
                <a:latin typeface="Microsoft YaHe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737360"/>
            <a:ext cx="2194560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FC9C2"/>
                </a:solidFill>
                <a:latin typeface="Microsoft YaHei"/>
              </a:rPr>
              <a:t>从统一底座到穿透式闭环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1856231"/>
            <a:ext cx="8823960" cy="0"/>
          </a:xfrm>
          <a:prstGeom prst="line">
            <a:avLst/>
          </a:prstGeom>
          <a:ln w="15240">
            <a:solidFill>
              <a:srgbClr val="20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" y="2148840"/>
            <a:ext cx="2359152" cy="2286000"/>
          </a:xfrm>
          <a:prstGeom prst="roundRect">
            <a:avLst/>
          </a:prstGeom>
          <a:solidFill>
            <a:srgbClr val="0D2A4B"/>
          </a:solidFill>
          <a:ln w="10160">
            <a:solidFill>
              <a:srgbClr val="2F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" y="2313432"/>
            <a:ext cx="393192" cy="274320"/>
          </a:xfrm>
          <a:prstGeom prst="roundRect">
            <a:avLst/>
          </a:prstGeom>
          <a:solidFill>
            <a:srgbClr val="2FC9C2"/>
          </a:solidFill>
          <a:ln w="10160">
            <a:solidFill>
              <a:srgbClr val="2F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2331720"/>
            <a:ext cx="39319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81831"/>
                </a:solidFill>
                <a:latin typeface="Microsoft YaHe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2304288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9FC"/>
                </a:solidFill>
                <a:latin typeface="Microsoft YaHei"/>
              </a:rPr>
              <a:t>统一数字底座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6384" y="2697480"/>
            <a:ext cx="2011680" cy="0"/>
          </a:xfrm>
          <a:prstGeom prst="line">
            <a:avLst/>
          </a:prstGeom>
          <a:ln w="13970">
            <a:solidFill>
              <a:srgbClr val="2F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" y="2898648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2FC9C2"/>
                </a:solidFill>
                <a:latin typeface="Microsoft YaHei"/>
              </a:rPr>
              <a:t>实物ID
资源编码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822191"/>
            <a:ext cx="196596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A4BECF"/>
                </a:solidFill>
                <a:latin typeface="Microsoft YaHei"/>
              </a:rPr>
              <a:t>全域统一 · 同源更新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2148840"/>
            <a:ext cx="2359152" cy="2286000"/>
          </a:xfrm>
          <a:prstGeom prst="roundRect">
            <a:avLst/>
          </a:prstGeom>
          <a:solidFill>
            <a:srgbClr val="0D2A4B"/>
          </a:solidFill>
          <a:ln w="10160">
            <a:solidFill>
              <a:srgbClr val="20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47872" y="2313432"/>
            <a:ext cx="393192" cy="274320"/>
          </a:xfrm>
          <a:prstGeom prst="roundRect">
            <a:avLst/>
          </a:prstGeom>
          <a:solidFill>
            <a:srgbClr val="2070B1"/>
          </a:solidFill>
          <a:ln w="10160">
            <a:solidFill>
              <a:srgbClr val="20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2331720"/>
            <a:ext cx="39319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81831"/>
                </a:solidFill>
                <a:latin typeface="Microsoft Ya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2304288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9FC"/>
                </a:solidFill>
                <a:latin typeface="Microsoft YaHei"/>
              </a:rPr>
              <a:t>三级数字孪生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66160" y="2697480"/>
            <a:ext cx="2011680" cy="0"/>
          </a:xfrm>
          <a:prstGeom prst="line">
            <a:avLst/>
          </a:prstGeom>
          <a:ln w="13970">
            <a:solidFill>
              <a:srgbClr val="20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566160" y="2898648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2070B1"/>
                </a:solidFill>
                <a:latin typeface="Microsoft YaHei"/>
              </a:rPr>
              <a:t>设备级
厂站级 · 系统级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3822191"/>
            <a:ext cx="196596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A4BECF"/>
                </a:solidFill>
                <a:latin typeface="Microsoft YaHei"/>
              </a:rPr>
              <a:t>物理电网与数字系统同步设计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2148840"/>
            <a:ext cx="2359152" cy="2286000"/>
          </a:xfrm>
          <a:prstGeom prst="roundRect">
            <a:avLst/>
          </a:prstGeom>
          <a:solidFill>
            <a:srgbClr val="0D2A4B"/>
          </a:solidFill>
          <a:ln w="10160">
            <a:solidFill>
              <a:srgbClr val="8B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7648" y="2313432"/>
            <a:ext cx="393192" cy="274320"/>
          </a:xfrm>
          <a:prstGeom prst="roundRect">
            <a:avLst/>
          </a:prstGeom>
          <a:solidFill>
            <a:srgbClr val="8BE5CF"/>
          </a:solidFill>
          <a:ln w="10160">
            <a:solidFill>
              <a:srgbClr val="8B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331720"/>
            <a:ext cx="39319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81831"/>
                </a:solidFill>
                <a:latin typeface="Microsoft YaHe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1424" y="2304288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9FC"/>
                </a:solidFill>
                <a:latin typeface="Microsoft YaHei"/>
              </a:rPr>
              <a:t>超级智能体自治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45936" y="2697480"/>
            <a:ext cx="2011680" cy="0"/>
          </a:xfrm>
          <a:prstGeom prst="line">
            <a:avLst/>
          </a:prstGeom>
          <a:ln w="13970">
            <a:solidFill>
              <a:srgbClr val="8BE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45936" y="2898648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8BE5CF"/>
                </a:solidFill>
                <a:latin typeface="Microsoft YaHei"/>
              </a:rPr>
              <a:t>自感知 · 业财自协同
决策自优化 · 知识自演进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3822191"/>
            <a:ext cx="196596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A4BECF"/>
                </a:solidFill>
                <a:latin typeface="Microsoft YaHei"/>
              </a:rPr>
              <a:t>AI大模型自主规划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2148840"/>
            <a:ext cx="2359152" cy="2286000"/>
          </a:xfrm>
          <a:prstGeom prst="roundRect">
            <a:avLst/>
          </a:prstGeom>
          <a:solidFill>
            <a:srgbClr val="0D2A4B"/>
          </a:solidFill>
          <a:ln w="10160">
            <a:solidFill>
              <a:srgbClr val="F89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07424" y="2313432"/>
            <a:ext cx="393192" cy="274320"/>
          </a:xfrm>
          <a:prstGeom prst="roundRect">
            <a:avLst/>
          </a:prstGeom>
          <a:solidFill>
            <a:srgbClr val="F89D3F"/>
          </a:solidFill>
          <a:ln w="10160">
            <a:solidFill>
              <a:srgbClr val="F89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2331720"/>
            <a:ext cx="39319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81831"/>
                </a:solidFill>
                <a:latin typeface="Microsoft YaHei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304288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5F9FC"/>
                </a:solidFill>
                <a:latin typeface="Microsoft YaHei"/>
              </a:rPr>
              <a:t>三流闭环生态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25712" y="2697480"/>
            <a:ext cx="2011680" cy="0"/>
          </a:xfrm>
          <a:prstGeom prst="line">
            <a:avLst/>
          </a:prstGeom>
          <a:ln w="13970">
            <a:solidFill>
              <a:srgbClr val="F89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125712" y="2898648"/>
            <a:ext cx="2011680" cy="74980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89D3F"/>
                </a:solidFill>
                <a:latin typeface="Microsoft YaHei"/>
              </a:rPr>
              <a:t>实物流
价值流 · 信息流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822191"/>
            <a:ext cx="196596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50" b="0">
                <a:solidFill>
                  <a:srgbClr val="A4BECF"/>
                </a:solidFill>
                <a:latin typeface="Microsoft YaHei"/>
              </a:rPr>
              <a:t>穿透式管理 · 生命周期最优</a:t>
            </a:r>
          </a:p>
        </p:txBody>
      </p:sp>
      <p:sp>
        <p:nvSpPr>
          <p:cNvPr id="54" name="Chevron 53"/>
          <p:cNvSpPr/>
          <p:nvPr/>
        </p:nvSpPr>
        <p:spPr>
          <a:xfrm>
            <a:off x="3035808" y="2944368"/>
            <a:ext cx="310896" cy="475488"/>
          </a:xfrm>
          <a:prstGeom prst="chevron">
            <a:avLst/>
          </a:prstGeom>
          <a:solidFill>
            <a:srgbClr val="2FC9C2"/>
          </a:solidFill>
          <a:ln>
            <a:solidFill>
              <a:srgbClr val="2F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5815584" y="2944368"/>
            <a:ext cx="310896" cy="475488"/>
          </a:xfrm>
          <a:prstGeom prst="chevron">
            <a:avLst/>
          </a:prstGeom>
          <a:solidFill>
            <a:srgbClr val="2FC9C2"/>
          </a:solidFill>
          <a:ln>
            <a:solidFill>
              <a:srgbClr val="2F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8595360" y="2944368"/>
            <a:ext cx="310896" cy="475488"/>
          </a:xfrm>
          <a:prstGeom prst="chevron">
            <a:avLst/>
          </a:prstGeom>
          <a:solidFill>
            <a:srgbClr val="2FC9C2"/>
          </a:solidFill>
          <a:ln>
            <a:solidFill>
              <a:srgbClr val="2F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1792" y="4773168"/>
            <a:ext cx="10698480" cy="749808"/>
          </a:xfrm>
          <a:prstGeom prst="roundRect">
            <a:avLst/>
          </a:prstGeom>
          <a:solidFill>
            <a:srgbClr val="0F3450"/>
          </a:solidFill>
          <a:ln w="10160">
            <a:solidFill>
              <a:srgbClr val="236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4919472"/>
            <a:ext cx="157276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89D3F"/>
                </a:solidFill>
                <a:latin typeface="Microsoft YaHei"/>
              </a:rPr>
              <a:t>三重底线评价体系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87168" y="4892040"/>
            <a:ext cx="1874519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Microsoft YaHei"/>
              </a:rPr>
              <a:t>技术底线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61688" y="4892040"/>
            <a:ext cx="1874519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Microsoft YaHei"/>
              </a:rPr>
              <a:t>经济底线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4892040"/>
            <a:ext cx="1874519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9FC"/>
                </a:solidFill>
                <a:latin typeface="Microsoft YaHei"/>
              </a:rPr>
              <a:t>环境底线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4892040"/>
            <a:ext cx="2880360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8BE5CF"/>
                </a:solidFill>
                <a:latin typeface="Microsoft YaHei"/>
              </a:rPr>
              <a:t>企业级多模态电力大模型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251960" y="4928616"/>
            <a:ext cx="0" cy="438912"/>
          </a:xfrm>
          <a:prstGeom prst="line">
            <a:avLst/>
          </a:prstGeom>
          <a:ln w="8890">
            <a:solidFill>
              <a:srgbClr val="438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126480" y="4928616"/>
            <a:ext cx="0" cy="438912"/>
          </a:xfrm>
          <a:prstGeom prst="line">
            <a:avLst/>
          </a:prstGeom>
          <a:ln w="8890">
            <a:solidFill>
              <a:srgbClr val="438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28431" y="4928616"/>
            <a:ext cx="0" cy="438912"/>
          </a:xfrm>
          <a:prstGeom prst="line">
            <a:avLst/>
          </a:prstGeom>
          <a:ln w="8890">
            <a:solidFill>
              <a:srgbClr val="438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21792" y="5760720"/>
            <a:ext cx="10698480" cy="621792"/>
          </a:xfrm>
          <a:prstGeom prst="roundRect">
            <a:avLst/>
          </a:prstGeom>
          <a:solidFill>
            <a:srgbClr val="F5F9FC"/>
          </a:solidFill>
          <a:ln w="10160">
            <a:solidFill>
              <a:srgbClr val="F5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" y="5870448"/>
            <a:ext cx="100584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2070B1"/>
                </a:solidFill>
                <a:latin typeface="Microsoft YaHei"/>
              </a:rPr>
              <a:t>最终状态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5104" y="5815584"/>
            <a:ext cx="68580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81831"/>
                </a:solidFill>
                <a:latin typeface="Microsoft YaHei"/>
              </a:rPr>
              <a:t>电网资产底盘绝对清晰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73568" y="5833872"/>
            <a:ext cx="2962656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1400" b="1">
                <a:solidFill>
                  <a:srgbClr val="2070B1"/>
                </a:solidFill>
                <a:latin typeface="Microsoft YaHei"/>
              </a:rPr>
              <a:t>全寿命周期综合最优解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26679" y="5879592"/>
            <a:ext cx="0" cy="384048"/>
          </a:xfrm>
          <a:prstGeom prst="line">
            <a:avLst/>
          </a:prstGeom>
          <a:ln w="10160">
            <a:solidFill>
              <a:srgbClr val="BD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0080" y="6519672"/>
            <a:ext cx="548640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700" b="0">
                <a:solidFill>
                  <a:srgbClr val="A4BECF"/>
                </a:solidFill>
                <a:latin typeface="Microsoft YaHei"/>
              </a:rPr>
              <a:t>物理电网 · 数字系统 · 智能模型 · 业务流程 · 控制策略 深度耦合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35440" y="6519672"/>
            <a:ext cx="2103120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00" b="1">
                <a:solidFill>
                  <a:srgbClr val="A4BECF"/>
                </a:solidFill>
                <a:latin typeface="Microsoft YaHei"/>
              </a:rPr>
              <a:t>AI-NATIVE ASSET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